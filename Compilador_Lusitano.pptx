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 edit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notes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B5AC0F2-CF08-4F98-A1CC-476124DEA52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B7F44E-6136-41AD-BDD2-205420C23DE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00C815-988F-4243-A678-C1DE258559B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D974A0-4A8A-479A-972F-FA31971C4D8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24F2BC-70EC-4520-A6EF-00D69CBA1A0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418663-9EF3-4B46-A1A9-D77F15D4FDB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00115C-9C79-490C-ACDF-744DFD0FA69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A8FDF4-6FD5-498C-9835-4D0E438FAF8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64E661-BFA1-48A9-B2DD-42EDED7E580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40AAD0-EA06-492D-8D81-CAA4CFE63A0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4B0668-DF40-4A27-BF10-81562EE92E2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9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"/>
          <p:cNvSpPr/>
          <p:nvPr/>
        </p:nvSpPr>
        <p:spPr>
          <a:xfrm>
            <a:off x="1657440" y="1733400"/>
            <a:ext cx="58291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4501"/>
              </a:lnSpc>
              <a:spcAft>
                <a:spcPts val="1199"/>
              </a:spcAft>
              <a:tabLst>
                <a:tab algn="l" pos="0"/>
              </a:tabLst>
            </a:pPr>
            <a:r>
              <a:rPr b="1" lang="en-US" sz="45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Compilador Lusitano</a:t>
            </a:r>
            <a:endParaRPr b="0" lang="en-US" sz="4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1657440" y="2457360"/>
            <a:ext cx="5829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401"/>
              </a:lnSpc>
              <a:spcBef>
                <a:spcPts val="300"/>
              </a:spcBef>
              <a:spcAft>
                <a:spcPts val="2401"/>
              </a:spcAft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>
                    <a:alpha val="90000"/>
                  </a:srgbClr>
                </a:solidFill>
                <a:effectLst/>
                <a:uFillTx/>
                <a:latin typeface="Arial"/>
                <a:ea typeface="Arial"/>
              </a:rPr>
              <a:t>Uma Linguagem de Programação em Português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2872080" y="3067200"/>
            <a:ext cx="3399120" cy="799920"/>
          </a:xfrm>
          <a:prstGeom prst="roundRect">
            <a:avLst>
              <a:gd name="adj" fmla="val 9524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Text 4"/>
          <p:cNvSpPr/>
          <p:nvPr/>
        </p:nvSpPr>
        <p:spPr>
          <a:xfrm>
            <a:off x="3149280" y="3219480"/>
            <a:ext cx="2845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Leonardo Alves Silva - 10723113466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3149280" y="3524400"/>
            <a:ext cx="2845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5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1050" strike="noStrike" u="none">
                <a:solidFill>
                  <a:srgbClr val="ffffff">
                    <a:alpha val="70000"/>
                  </a:srgbClr>
                </a:solidFill>
                <a:effectLst/>
                <a:uFillTx/>
                <a:latin typeface="Arial"/>
                <a:ea typeface="Arial"/>
              </a:rPr>
              <a:t>Teoria da Computação e Compiladores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0" y="0"/>
            <a:ext cx="9143640" cy="761760"/>
          </a:xfrm>
          <a:prstGeom prst="rect">
            <a:avLst/>
          </a:prstGeom>
          <a:solidFill>
            <a:srgbClr val="1b5e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Text 1"/>
          <p:cNvSpPr/>
          <p:nvPr/>
        </p:nvSpPr>
        <p:spPr>
          <a:xfrm>
            <a:off x="304920" y="228600"/>
            <a:ext cx="43617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 que é o Compilador Lusitano?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304920" y="1771560"/>
            <a:ext cx="8534160" cy="952200"/>
          </a:xfrm>
          <a:prstGeom prst="roundRect">
            <a:avLst>
              <a:gd name="adj" fmla="val 8000"/>
            </a:avLst>
          </a:prstGeom>
          <a:solidFill>
            <a:srgbClr val="f8f8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Shape 3"/>
          <p:cNvSpPr/>
          <p:nvPr/>
        </p:nvSpPr>
        <p:spPr>
          <a:xfrm>
            <a:off x="333360" y="1771560"/>
            <a:ext cx="360" cy="952560"/>
          </a:xfrm>
          <a:prstGeom prst="line">
            <a:avLst/>
          </a:prstGeom>
          <a:ln w="57150">
            <a:solidFill>
              <a:srgbClr val="1b5e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552600" y="1962000"/>
            <a:ext cx="82576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b5e20"/>
                </a:solidFill>
                <a:effectLst/>
                <a:uFillTx/>
                <a:latin typeface="Arial"/>
                <a:ea typeface="Arial"/>
              </a:rPr>
              <a:t>Transpilador (Source-to-Source Compiler)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552600" y="2305080"/>
            <a:ext cx="8257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12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Traduz código em português (Lusitano) para Python executável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6"/>
          <p:cNvSpPr/>
          <p:nvPr/>
        </p:nvSpPr>
        <p:spPr>
          <a:xfrm>
            <a:off x="2361960" y="2914560"/>
            <a:ext cx="1181160" cy="799920"/>
          </a:xfrm>
          <a:prstGeom prst="roundRect">
            <a:avLst>
              <a:gd name="adj" fmla="val 9524"/>
            </a:avLst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Text 7"/>
          <p:cNvSpPr/>
          <p:nvPr/>
        </p:nvSpPr>
        <p:spPr>
          <a:xfrm>
            <a:off x="2544480" y="3067200"/>
            <a:ext cx="8164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5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Código Fonte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8"/>
          <p:cNvSpPr/>
          <p:nvPr/>
        </p:nvSpPr>
        <p:spPr>
          <a:xfrm>
            <a:off x="2544480" y="3295800"/>
            <a:ext cx="816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Lusitano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9"/>
          <p:cNvSpPr/>
          <p:nvPr/>
        </p:nvSpPr>
        <p:spPr>
          <a:xfrm>
            <a:off x="3696120" y="3143160"/>
            <a:ext cx="2912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n-US" sz="2250" strike="noStrike" u="none">
                <a:solidFill>
                  <a:srgbClr val="1b5e20"/>
                </a:solidFill>
                <a:effectLst/>
                <a:uFillTx/>
                <a:latin typeface="Arial"/>
                <a:ea typeface="Arial"/>
              </a:rPr>
              <a:t>→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0"/>
          <p:cNvSpPr/>
          <p:nvPr/>
        </p:nvSpPr>
        <p:spPr>
          <a:xfrm>
            <a:off x="4134240" y="2914560"/>
            <a:ext cx="1095120" cy="799920"/>
          </a:xfrm>
          <a:prstGeom prst="roundRect">
            <a:avLst>
              <a:gd name="adj" fmla="val 9524"/>
            </a:avLst>
          </a:prstGeom>
          <a:solidFill>
            <a:srgbClr val="1b5e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Text 11"/>
          <p:cNvSpPr/>
          <p:nvPr/>
        </p:nvSpPr>
        <p:spPr>
          <a:xfrm>
            <a:off x="4317480" y="3067200"/>
            <a:ext cx="7282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5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Compilador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2"/>
          <p:cNvSpPr/>
          <p:nvPr/>
        </p:nvSpPr>
        <p:spPr>
          <a:xfrm>
            <a:off x="4317480" y="3295800"/>
            <a:ext cx="728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Lusitano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3"/>
          <p:cNvSpPr/>
          <p:nvPr/>
        </p:nvSpPr>
        <p:spPr>
          <a:xfrm>
            <a:off x="5382000" y="3143160"/>
            <a:ext cx="2912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n-US" sz="2250" strike="noStrike" u="none">
                <a:solidFill>
                  <a:srgbClr val="1b5e20"/>
                </a:solidFill>
                <a:effectLst/>
                <a:uFillTx/>
                <a:latin typeface="Arial"/>
                <a:ea typeface="Arial"/>
              </a:rPr>
              <a:t>→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4"/>
          <p:cNvSpPr/>
          <p:nvPr/>
        </p:nvSpPr>
        <p:spPr>
          <a:xfrm>
            <a:off x="5820120" y="2914560"/>
            <a:ext cx="961560" cy="799920"/>
          </a:xfrm>
          <a:prstGeom prst="roundRect">
            <a:avLst>
              <a:gd name="adj" fmla="val 9524"/>
            </a:avLst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Text 15"/>
          <p:cNvSpPr/>
          <p:nvPr/>
        </p:nvSpPr>
        <p:spPr>
          <a:xfrm>
            <a:off x="6004800" y="3067200"/>
            <a:ext cx="5922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5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05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Saída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6"/>
          <p:cNvSpPr/>
          <p:nvPr/>
        </p:nvSpPr>
        <p:spPr>
          <a:xfrm>
            <a:off x="6004800" y="3295800"/>
            <a:ext cx="5922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Python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7"/>
          <p:cNvSpPr/>
          <p:nvPr/>
        </p:nvSpPr>
        <p:spPr>
          <a:xfrm>
            <a:off x="1320120" y="3905280"/>
            <a:ext cx="2128680" cy="38052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Text 18"/>
          <p:cNvSpPr/>
          <p:nvPr/>
        </p:nvSpPr>
        <p:spPr>
          <a:xfrm>
            <a:off x="1472400" y="4000680"/>
            <a:ext cx="18604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✓ Sintaxe 100% em português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9"/>
          <p:cNvSpPr/>
          <p:nvPr/>
        </p:nvSpPr>
        <p:spPr>
          <a:xfrm>
            <a:off x="3563280" y="3905280"/>
            <a:ext cx="2291400" cy="38052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Text 20"/>
          <p:cNvSpPr/>
          <p:nvPr/>
        </p:nvSpPr>
        <p:spPr>
          <a:xfrm>
            <a:off x="3715560" y="4000680"/>
            <a:ext cx="2026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✓ Fases clássicas de compilação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1"/>
          <p:cNvSpPr/>
          <p:nvPr/>
        </p:nvSpPr>
        <p:spPr>
          <a:xfrm>
            <a:off x="5969160" y="3905280"/>
            <a:ext cx="1854360" cy="38052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Text 22"/>
          <p:cNvSpPr/>
          <p:nvPr/>
        </p:nvSpPr>
        <p:spPr>
          <a:xfrm>
            <a:off x="6121440" y="4000680"/>
            <a:ext cx="15804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✓ Gera código executável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/>
          <p:nvPr/>
        </p:nvSpPr>
        <p:spPr>
          <a:xfrm>
            <a:off x="0" y="0"/>
            <a:ext cx="9143640" cy="761760"/>
          </a:xfrm>
          <a:prstGeom prst="rect">
            <a:avLst/>
          </a:prstGeom>
          <a:solidFill>
            <a:srgbClr val="1b5e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Text 1"/>
          <p:cNvSpPr/>
          <p:nvPr/>
        </p:nvSpPr>
        <p:spPr>
          <a:xfrm>
            <a:off x="304920" y="228600"/>
            <a:ext cx="43617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Arquitetura do Compilador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"/>
          <p:cNvSpPr/>
          <p:nvPr/>
        </p:nvSpPr>
        <p:spPr>
          <a:xfrm>
            <a:off x="304920" y="1390680"/>
            <a:ext cx="8534160" cy="1542600"/>
          </a:xfrm>
          <a:prstGeom prst="roundRect">
            <a:avLst>
              <a:gd name="adj" fmla="val 4938"/>
            </a:avLst>
          </a:prstGeom>
          <a:solidFill>
            <a:srgbClr val="e3f2fd"/>
          </a:solidFill>
          <a:ln w="19050">
            <a:solidFill>
              <a:srgbClr val="0d47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Text 3"/>
          <p:cNvSpPr/>
          <p:nvPr/>
        </p:nvSpPr>
        <p:spPr>
          <a:xfrm>
            <a:off x="476280" y="1562040"/>
            <a:ext cx="8354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spcAft>
                <a:spcPts val="901"/>
              </a:spcAft>
              <a:tabLst>
                <a:tab algn="l" pos="0"/>
              </a:tabLst>
            </a:pPr>
            <a:r>
              <a:rPr b="1" lang="en-US" sz="1200" strike="noStrike" u="none">
                <a:solidFill>
                  <a:srgbClr val="0d47a1"/>
                </a:solidFill>
                <a:effectLst/>
                <a:uFillTx/>
                <a:latin typeface="Arial"/>
                <a:ea typeface="Arial"/>
              </a:rPr>
              <a:t>FRONT END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4"/>
          <p:cNvSpPr/>
          <p:nvPr/>
        </p:nvSpPr>
        <p:spPr>
          <a:xfrm>
            <a:off x="2837880" y="1905120"/>
            <a:ext cx="849600" cy="62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0d47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Text 5"/>
          <p:cNvSpPr/>
          <p:nvPr/>
        </p:nvSpPr>
        <p:spPr>
          <a:xfrm>
            <a:off x="2994840" y="2028960"/>
            <a:ext cx="5364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Scanner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6"/>
          <p:cNvSpPr/>
          <p:nvPr/>
        </p:nvSpPr>
        <p:spPr>
          <a:xfrm>
            <a:off x="2994840" y="2257560"/>
            <a:ext cx="5364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99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9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(Léxico)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7"/>
          <p:cNvSpPr/>
          <p:nvPr/>
        </p:nvSpPr>
        <p:spPr>
          <a:xfrm>
            <a:off x="3802320" y="2085840"/>
            <a:ext cx="194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0d47a1"/>
                </a:solidFill>
                <a:effectLst/>
                <a:uFillTx/>
                <a:latin typeface="Arial"/>
                <a:ea typeface="Arial"/>
              </a:rPr>
              <a:t>→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8"/>
          <p:cNvSpPr/>
          <p:nvPr/>
        </p:nvSpPr>
        <p:spPr>
          <a:xfrm>
            <a:off x="4107240" y="1905120"/>
            <a:ext cx="780840" cy="62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0d47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Text 9"/>
          <p:cNvSpPr/>
          <p:nvPr/>
        </p:nvSpPr>
        <p:spPr>
          <a:xfrm>
            <a:off x="4264560" y="2028960"/>
            <a:ext cx="4662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Parser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0"/>
          <p:cNvSpPr/>
          <p:nvPr/>
        </p:nvSpPr>
        <p:spPr>
          <a:xfrm>
            <a:off x="4264560" y="2257560"/>
            <a:ext cx="4662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99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9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(Sintaxe)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1"/>
          <p:cNvSpPr/>
          <p:nvPr/>
        </p:nvSpPr>
        <p:spPr>
          <a:xfrm>
            <a:off x="5002920" y="2085840"/>
            <a:ext cx="194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0d47a1"/>
                </a:solidFill>
                <a:effectLst/>
                <a:uFillTx/>
                <a:latin typeface="Arial"/>
                <a:ea typeface="Arial"/>
              </a:rPr>
              <a:t>→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2"/>
          <p:cNvSpPr/>
          <p:nvPr/>
        </p:nvSpPr>
        <p:spPr>
          <a:xfrm>
            <a:off x="5307480" y="1905120"/>
            <a:ext cx="997920" cy="62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0d47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Text 13"/>
          <p:cNvSpPr/>
          <p:nvPr/>
        </p:nvSpPr>
        <p:spPr>
          <a:xfrm>
            <a:off x="5463000" y="2028960"/>
            <a:ext cx="687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Semântico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4"/>
          <p:cNvSpPr/>
          <p:nvPr/>
        </p:nvSpPr>
        <p:spPr>
          <a:xfrm>
            <a:off x="5463000" y="2257560"/>
            <a:ext cx="687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99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9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(Verificação)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5"/>
          <p:cNvSpPr/>
          <p:nvPr/>
        </p:nvSpPr>
        <p:spPr>
          <a:xfrm>
            <a:off x="3348000" y="2610000"/>
            <a:ext cx="4575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↓ Tokens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6"/>
          <p:cNvSpPr/>
          <p:nvPr/>
        </p:nvSpPr>
        <p:spPr>
          <a:xfrm>
            <a:off x="4178160" y="2610000"/>
            <a:ext cx="3106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↓ AST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7"/>
          <p:cNvSpPr/>
          <p:nvPr/>
        </p:nvSpPr>
        <p:spPr>
          <a:xfrm>
            <a:off x="4863960" y="2610000"/>
            <a:ext cx="9504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↓ Tabela Símbolos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8"/>
          <p:cNvSpPr/>
          <p:nvPr/>
        </p:nvSpPr>
        <p:spPr>
          <a:xfrm>
            <a:off x="219600" y="3086280"/>
            <a:ext cx="8704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b5e20"/>
                </a:solidFill>
                <a:effectLst/>
                <a:uFillTx/>
                <a:latin typeface="Arial"/>
                <a:ea typeface="Arial"/>
              </a:rPr>
              <a:t>↓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9"/>
          <p:cNvSpPr/>
          <p:nvPr/>
        </p:nvSpPr>
        <p:spPr>
          <a:xfrm>
            <a:off x="304920" y="3543480"/>
            <a:ext cx="8534160" cy="1123560"/>
          </a:xfrm>
          <a:prstGeom prst="roundRect">
            <a:avLst>
              <a:gd name="adj" fmla="val 6780"/>
            </a:avLst>
          </a:prstGeom>
          <a:solidFill>
            <a:srgbClr val="e8f5e9"/>
          </a:solidFill>
          <a:ln w="19050">
            <a:solidFill>
              <a:srgbClr val="1b5e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Text 20"/>
          <p:cNvSpPr/>
          <p:nvPr/>
        </p:nvSpPr>
        <p:spPr>
          <a:xfrm>
            <a:off x="476280" y="3714840"/>
            <a:ext cx="8354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spcAft>
                <a:spcPts val="901"/>
              </a:spcAft>
              <a:tabLst>
                <a:tab algn="l" pos="0"/>
              </a:tabLst>
            </a:pPr>
            <a:r>
              <a:rPr b="1" lang="en-US" sz="1200" strike="noStrike" u="none">
                <a:solidFill>
                  <a:srgbClr val="1b5e20"/>
                </a:solidFill>
                <a:effectLst/>
                <a:uFillTx/>
                <a:latin typeface="Arial"/>
                <a:ea typeface="Arial"/>
              </a:rPr>
              <a:t>BACK END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1"/>
          <p:cNvSpPr/>
          <p:nvPr/>
        </p:nvSpPr>
        <p:spPr>
          <a:xfrm>
            <a:off x="2851200" y="4057560"/>
            <a:ext cx="1531080" cy="4377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1b5e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Text 22"/>
          <p:cNvSpPr/>
          <p:nvPr/>
        </p:nvSpPr>
        <p:spPr>
          <a:xfrm>
            <a:off x="3000960" y="4181400"/>
            <a:ext cx="12315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Gerador de Código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3"/>
          <p:cNvSpPr/>
          <p:nvPr/>
        </p:nvSpPr>
        <p:spPr>
          <a:xfrm>
            <a:off x="4497120" y="4143240"/>
            <a:ext cx="194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1b5e20"/>
                </a:solidFill>
                <a:effectLst/>
                <a:uFillTx/>
                <a:latin typeface="Arial"/>
                <a:ea typeface="Arial"/>
              </a:rPr>
              <a:t>→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4"/>
          <p:cNvSpPr/>
          <p:nvPr/>
        </p:nvSpPr>
        <p:spPr>
          <a:xfrm>
            <a:off x="4802040" y="4067280"/>
            <a:ext cx="1490400" cy="418680"/>
          </a:xfrm>
          <a:prstGeom prst="roundRect">
            <a:avLst>
              <a:gd name="adj" fmla="val 13636"/>
            </a:avLst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 25"/>
          <p:cNvSpPr/>
          <p:nvPr/>
        </p:nvSpPr>
        <p:spPr>
          <a:xfrm>
            <a:off x="4942440" y="4181400"/>
            <a:ext cx="1209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Python Executável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0" y="0"/>
            <a:ext cx="9143640" cy="761760"/>
          </a:xfrm>
          <a:prstGeom prst="rect">
            <a:avLst/>
          </a:prstGeom>
          <a:solidFill>
            <a:srgbClr val="1b5e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 1"/>
          <p:cNvSpPr/>
          <p:nvPr/>
        </p:nvSpPr>
        <p:spPr>
          <a:xfrm>
            <a:off x="304920" y="228600"/>
            <a:ext cx="43617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Fase 1: Análise Léxica (Scanner)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"/>
          <p:cNvSpPr/>
          <p:nvPr/>
        </p:nvSpPr>
        <p:spPr>
          <a:xfrm>
            <a:off x="304920" y="1467000"/>
            <a:ext cx="4152600" cy="704520"/>
          </a:xfrm>
          <a:prstGeom prst="roundRect">
            <a:avLst>
              <a:gd name="adj" fmla="val 10811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 3"/>
          <p:cNvSpPr/>
          <p:nvPr/>
        </p:nvSpPr>
        <p:spPr>
          <a:xfrm>
            <a:off x="438120" y="1600200"/>
            <a:ext cx="396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spcAft>
                <a:spcPts val="451"/>
              </a:spcAft>
              <a:tabLst>
                <a:tab algn="l" pos="0"/>
              </a:tabLst>
            </a:pPr>
            <a:r>
              <a:rPr b="1" lang="en-US" sz="1050" strike="noStrike" u="none">
                <a:solidFill>
                  <a:srgbClr val="1b5e20"/>
                </a:solidFill>
                <a:effectLst/>
                <a:uFillTx/>
                <a:latin typeface="Arial"/>
                <a:ea typeface="Arial"/>
              </a:rPr>
              <a:t>O que faz?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4"/>
          <p:cNvSpPr/>
          <p:nvPr/>
        </p:nvSpPr>
        <p:spPr>
          <a:xfrm>
            <a:off x="438120" y="1847880"/>
            <a:ext cx="396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Transforma código fonte (texto) em uma sequência de tokens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5"/>
          <p:cNvSpPr/>
          <p:nvPr/>
        </p:nvSpPr>
        <p:spPr>
          <a:xfrm>
            <a:off x="304920" y="2286000"/>
            <a:ext cx="4152600" cy="933120"/>
          </a:xfrm>
          <a:prstGeom prst="roundRect">
            <a:avLst>
              <a:gd name="adj" fmla="val 8163"/>
            </a:avLst>
          </a:prstGeom>
          <a:solidFill>
            <a:srgbClr val="fff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 6"/>
          <p:cNvSpPr/>
          <p:nvPr/>
        </p:nvSpPr>
        <p:spPr>
          <a:xfrm>
            <a:off x="438120" y="2419200"/>
            <a:ext cx="396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spcAft>
                <a:spcPts val="451"/>
              </a:spcAft>
              <a:tabLst>
                <a:tab algn="l" pos="0"/>
              </a:tabLst>
            </a:pPr>
            <a:r>
              <a:rPr b="1" lang="en-US" sz="1050" strike="noStrike" u="none">
                <a:solidFill>
                  <a:srgbClr val="e65100"/>
                </a:solidFill>
                <a:effectLst/>
                <a:uFillTx/>
                <a:latin typeface="Arial"/>
                <a:ea typeface="Arial"/>
              </a:rPr>
              <a:t>Entrada: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7"/>
          <p:cNvSpPr/>
          <p:nvPr/>
        </p:nvSpPr>
        <p:spPr>
          <a:xfrm>
            <a:off x="438120" y="2666880"/>
            <a:ext cx="3885840" cy="418680"/>
          </a:xfrm>
          <a:prstGeom prst="roundRect">
            <a:avLst>
              <a:gd name="adj" fmla="val 9091"/>
            </a:avLst>
          </a:pr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 8"/>
          <p:cNvSpPr/>
          <p:nvPr/>
        </p:nvSpPr>
        <p:spPr>
          <a:xfrm>
            <a:off x="514440" y="2743200"/>
            <a:ext cx="3808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var idade: inteiro = 25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9"/>
          <p:cNvSpPr/>
          <p:nvPr/>
        </p:nvSpPr>
        <p:spPr>
          <a:xfrm>
            <a:off x="304920" y="3333600"/>
            <a:ext cx="4152600" cy="1257120"/>
          </a:xfrm>
          <a:prstGeom prst="roundRect">
            <a:avLst>
              <a:gd name="adj" fmla="val 6061"/>
            </a:avLst>
          </a:prstGeom>
          <a:solidFill>
            <a:srgbClr val="e8f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 10"/>
          <p:cNvSpPr/>
          <p:nvPr/>
        </p:nvSpPr>
        <p:spPr>
          <a:xfrm>
            <a:off x="438120" y="3467160"/>
            <a:ext cx="396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spcAft>
                <a:spcPts val="451"/>
              </a:spcAft>
              <a:tabLst>
                <a:tab algn="l" pos="0"/>
              </a:tabLst>
            </a:pPr>
            <a:r>
              <a:rPr b="1" lang="en-US" sz="1050" strike="noStrike" u="none">
                <a:solidFill>
                  <a:srgbClr val="1b5e20"/>
                </a:solidFill>
                <a:effectLst/>
                <a:uFillTx/>
                <a:latin typeface="Arial"/>
                <a:ea typeface="Arial"/>
              </a:rPr>
              <a:t>Saída (Tokens):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1"/>
          <p:cNvSpPr/>
          <p:nvPr/>
        </p:nvSpPr>
        <p:spPr>
          <a:xfrm>
            <a:off x="438120" y="3714840"/>
            <a:ext cx="3885840" cy="742680"/>
          </a:xfrm>
          <a:prstGeom prst="roundRect">
            <a:avLst>
              <a:gd name="adj" fmla="val 5128"/>
            </a:avLst>
          </a:pr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 12"/>
          <p:cNvSpPr/>
          <p:nvPr/>
        </p:nvSpPr>
        <p:spPr>
          <a:xfrm>
            <a:off x="514440" y="3809880"/>
            <a:ext cx="3808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[VAR] [IDENT:idade] [:]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3"/>
          <p:cNvSpPr/>
          <p:nvPr/>
        </p:nvSpPr>
        <p:spPr>
          <a:xfrm>
            <a:off x="514440" y="4095720"/>
            <a:ext cx="3808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[INTEIRO] [=] [NUM:25]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4"/>
          <p:cNvSpPr/>
          <p:nvPr/>
        </p:nvSpPr>
        <p:spPr>
          <a:xfrm>
            <a:off x="4686480" y="1562040"/>
            <a:ext cx="4235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0d47a1"/>
                </a:solidFill>
                <a:effectLst/>
                <a:uFillTx/>
                <a:latin typeface="Arial"/>
                <a:ea typeface="Arial"/>
              </a:rPr>
              <a:t>Responsabilidades: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5"/>
          <p:cNvSpPr/>
          <p:nvPr/>
        </p:nvSpPr>
        <p:spPr>
          <a:xfrm>
            <a:off x="4686480" y="1828800"/>
            <a:ext cx="4152600" cy="380520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 16"/>
          <p:cNvSpPr/>
          <p:nvPr/>
        </p:nvSpPr>
        <p:spPr>
          <a:xfrm>
            <a:off x="4819680" y="1924200"/>
            <a:ext cx="396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✓ Identificar palavras-chave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7"/>
          <p:cNvSpPr/>
          <p:nvPr/>
        </p:nvSpPr>
        <p:spPr>
          <a:xfrm>
            <a:off x="4686480" y="2286000"/>
            <a:ext cx="4152600" cy="380520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 18"/>
          <p:cNvSpPr/>
          <p:nvPr/>
        </p:nvSpPr>
        <p:spPr>
          <a:xfrm>
            <a:off x="4819680" y="2381400"/>
            <a:ext cx="396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✓ Reconhecer identificadores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9"/>
          <p:cNvSpPr/>
          <p:nvPr/>
        </p:nvSpPr>
        <p:spPr>
          <a:xfrm>
            <a:off x="4686480" y="2743200"/>
            <a:ext cx="4152600" cy="380520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 20"/>
          <p:cNvSpPr/>
          <p:nvPr/>
        </p:nvSpPr>
        <p:spPr>
          <a:xfrm>
            <a:off x="4819680" y="2838600"/>
            <a:ext cx="396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✓ Processar literais (números, strings)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1"/>
          <p:cNvSpPr/>
          <p:nvPr/>
        </p:nvSpPr>
        <p:spPr>
          <a:xfrm>
            <a:off x="4686480" y="3200400"/>
            <a:ext cx="4152600" cy="380520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 22"/>
          <p:cNvSpPr/>
          <p:nvPr/>
        </p:nvSpPr>
        <p:spPr>
          <a:xfrm>
            <a:off x="4819680" y="3295800"/>
            <a:ext cx="396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✓ Detectar operadores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3"/>
          <p:cNvSpPr/>
          <p:nvPr/>
        </p:nvSpPr>
        <p:spPr>
          <a:xfrm>
            <a:off x="4686480" y="3657600"/>
            <a:ext cx="4152600" cy="380520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 24"/>
          <p:cNvSpPr/>
          <p:nvPr/>
        </p:nvSpPr>
        <p:spPr>
          <a:xfrm>
            <a:off x="4819680" y="3753000"/>
            <a:ext cx="396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✓ Ignorar comentários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5"/>
          <p:cNvSpPr/>
          <p:nvPr/>
        </p:nvSpPr>
        <p:spPr>
          <a:xfrm>
            <a:off x="4686480" y="4114800"/>
            <a:ext cx="4152600" cy="380520"/>
          </a:xfrm>
          <a:prstGeom prst="roundRect">
            <a:avLst>
              <a:gd name="adj" fmla="val 15000"/>
            </a:avLst>
          </a:prstGeom>
          <a:solidFill>
            <a:srgbClr val="ffeb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 26"/>
          <p:cNvSpPr/>
          <p:nvPr/>
        </p:nvSpPr>
        <p:spPr>
          <a:xfrm>
            <a:off x="4819680" y="4210200"/>
            <a:ext cx="396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✓ Reportar erros léxicos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0" y="0"/>
            <a:ext cx="9143640" cy="761760"/>
          </a:xfrm>
          <a:prstGeom prst="rect">
            <a:avLst/>
          </a:prstGeom>
          <a:solidFill>
            <a:srgbClr val="1b5e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 1"/>
          <p:cNvSpPr/>
          <p:nvPr/>
        </p:nvSpPr>
        <p:spPr>
          <a:xfrm>
            <a:off x="304920" y="228600"/>
            <a:ext cx="43617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Fase 2: Análise Sintática (Parser)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304920" y="1438200"/>
            <a:ext cx="4152600" cy="704520"/>
          </a:xfrm>
          <a:prstGeom prst="roundRect">
            <a:avLst>
              <a:gd name="adj" fmla="val 10811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 3"/>
          <p:cNvSpPr/>
          <p:nvPr/>
        </p:nvSpPr>
        <p:spPr>
          <a:xfrm>
            <a:off x="438120" y="1571760"/>
            <a:ext cx="396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spcAft>
                <a:spcPts val="451"/>
              </a:spcAft>
              <a:tabLst>
                <a:tab algn="l" pos="0"/>
              </a:tabLst>
            </a:pPr>
            <a:r>
              <a:rPr b="1" lang="en-US" sz="1050" strike="noStrike" u="none">
                <a:solidFill>
                  <a:srgbClr val="1b5e20"/>
                </a:solidFill>
                <a:effectLst/>
                <a:uFillTx/>
                <a:latin typeface="Arial"/>
                <a:ea typeface="Arial"/>
              </a:rPr>
              <a:t>O que faz?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4"/>
          <p:cNvSpPr/>
          <p:nvPr/>
        </p:nvSpPr>
        <p:spPr>
          <a:xfrm>
            <a:off x="438120" y="1819440"/>
            <a:ext cx="396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Verifica gramática e constrói a AST (Abstract Syntax Tree)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5"/>
          <p:cNvSpPr/>
          <p:nvPr/>
        </p:nvSpPr>
        <p:spPr>
          <a:xfrm>
            <a:off x="304920" y="2257560"/>
            <a:ext cx="4152600" cy="704520"/>
          </a:xfrm>
          <a:prstGeom prst="roundRect">
            <a:avLst>
              <a:gd name="adj" fmla="val 10811"/>
            </a:avLst>
          </a:prstGeom>
          <a:solidFill>
            <a:srgbClr val="e8f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 6"/>
          <p:cNvSpPr/>
          <p:nvPr/>
        </p:nvSpPr>
        <p:spPr>
          <a:xfrm>
            <a:off x="438120" y="2390760"/>
            <a:ext cx="396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spcAft>
                <a:spcPts val="451"/>
              </a:spcAft>
              <a:tabLst>
                <a:tab algn="l" pos="0"/>
              </a:tabLst>
            </a:pPr>
            <a:r>
              <a:rPr b="1" lang="en-US" sz="1050" strike="noStrike" u="none">
                <a:solidFill>
                  <a:srgbClr val="1b5e20"/>
                </a:solidFill>
                <a:effectLst/>
                <a:uFillTx/>
                <a:latin typeface="Arial"/>
                <a:ea typeface="Arial"/>
              </a:rPr>
              <a:t>Técnica: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7"/>
          <p:cNvSpPr/>
          <p:nvPr/>
        </p:nvSpPr>
        <p:spPr>
          <a:xfrm>
            <a:off x="438120" y="2638440"/>
            <a:ext cx="396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Descida Recursiva - cada regra gramatical vira uma função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8"/>
          <p:cNvSpPr/>
          <p:nvPr/>
        </p:nvSpPr>
        <p:spPr>
          <a:xfrm>
            <a:off x="304920" y="3076560"/>
            <a:ext cx="4152600" cy="1542600"/>
          </a:xfrm>
          <a:prstGeom prst="roundRect">
            <a:avLst>
              <a:gd name="adj" fmla="val 4938"/>
            </a:avLst>
          </a:prstGeom>
          <a:solidFill>
            <a:srgbClr val="fff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 9"/>
          <p:cNvSpPr/>
          <p:nvPr/>
        </p:nvSpPr>
        <p:spPr>
          <a:xfrm>
            <a:off x="438120" y="3209760"/>
            <a:ext cx="396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spcAft>
                <a:spcPts val="451"/>
              </a:spcAft>
              <a:tabLst>
                <a:tab algn="l" pos="0"/>
              </a:tabLst>
            </a:pPr>
            <a:r>
              <a:rPr b="1" lang="en-US" sz="1050" strike="noStrike" u="none">
                <a:solidFill>
                  <a:srgbClr val="e65100"/>
                </a:solidFill>
                <a:effectLst/>
                <a:uFillTx/>
                <a:latin typeface="Arial"/>
                <a:ea typeface="Arial"/>
              </a:rPr>
              <a:t>Código: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0"/>
          <p:cNvSpPr/>
          <p:nvPr/>
        </p:nvSpPr>
        <p:spPr>
          <a:xfrm>
            <a:off x="438120" y="3457440"/>
            <a:ext cx="3885840" cy="1028520"/>
          </a:xfrm>
          <a:prstGeom prst="roundRect">
            <a:avLst>
              <a:gd name="adj" fmla="val 3704"/>
            </a:avLst>
          </a:pr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 11"/>
          <p:cNvSpPr/>
          <p:nvPr/>
        </p:nvSpPr>
        <p:spPr>
          <a:xfrm>
            <a:off x="514440" y="3552840"/>
            <a:ext cx="3808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se (x &gt; 10) {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2"/>
          <p:cNvSpPr/>
          <p:nvPr/>
        </p:nvSpPr>
        <p:spPr>
          <a:xfrm>
            <a:off x="514440" y="3838680"/>
            <a:ext cx="3808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escreva("Grande")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3"/>
          <p:cNvSpPr/>
          <p:nvPr/>
        </p:nvSpPr>
        <p:spPr>
          <a:xfrm>
            <a:off x="514440" y="4124160"/>
            <a:ext cx="3808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}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4"/>
          <p:cNvSpPr/>
          <p:nvPr/>
        </p:nvSpPr>
        <p:spPr>
          <a:xfrm>
            <a:off x="4686480" y="1600200"/>
            <a:ext cx="4235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050" strike="noStrike" u="none">
                <a:solidFill>
                  <a:srgbClr val="0d47a1"/>
                </a:solidFill>
                <a:effectLst/>
                <a:uFillTx/>
                <a:latin typeface="Arial"/>
                <a:ea typeface="Arial"/>
              </a:rPr>
              <a:t>Árvore Sintática (AST):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5"/>
          <p:cNvSpPr/>
          <p:nvPr/>
        </p:nvSpPr>
        <p:spPr>
          <a:xfrm>
            <a:off x="4686480" y="1905120"/>
            <a:ext cx="4152600" cy="1714320"/>
          </a:xfrm>
          <a:prstGeom prst="roundRect">
            <a:avLst>
              <a:gd name="adj" fmla="val 4444"/>
            </a:avLst>
          </a:prstGeom>
          <a:solidFill>
            <a:srgbClr val="e3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 16"/>
          <p:cNvSpPr/>
          <p:nvPr/>
        </p:nvSpPr>
        <p:spPr>
          <a:xfrm>
            <a:off x="4819680" y="2057400"/>
            <a:ext cx="39636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 Programa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7"/>
          <p:cNvSpPr/>
          <p:nvPr/>
        </p:nvSpPr>
        <p:spPr>
          <a:xfrm>
            <a:off x="4971960" y="2343240"/>
            <a:ext cx="3808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└──  Se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8"/>
          <p:cNvSpPr/>
          <p:nvPr/>
        </p:nvSpPr>
        <p:spPr>
          <a:xfrm>
            <a:off x="5124600" y="2629080"/>
            <a:ext cx="36525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├── Condição: x &gt; 10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9"/>
          <p:cNvSpPr/>
          <p:nvPr/>
        </p:nvSpPr>
        <p:spPr>
          <a:xfrm>
            <a:off x="5124600" y="2914560"/>
            <a:ext cx="36525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└── Então:  Bloco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0"/>
          <p:cNvSpPr/>
          <p:nvPr/>
        </p:nvSpPr>
        <p:spPr>
          <a:xfrm>
            <a:off x="5276880" y="3200400"/>
            <a:ext cx="34974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└──  Escreva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1"/>
          <p:cNvSpPr/>
          <p:nvPr/>
        </p:nvSpPr>
        <p:spPr>
          <a:xfrm>
            <a:off x="4686480" y="3772080"/>
            <a:ext cx="1378440" cy="304560"/>
          </a:xfrm>
          <a:prstGeom prst="roundRect">
            <a:avLst>
              <a:gd name="adj" fmla="val 18750"/>
            </a:avLst>
          </a:prstGeom>
          <a:solidFill>
            <a:srgbClr val="e8f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 22"/>
          <p:cNvSpPr/>
          <p:nvPr/>
        </p:nvSpPr>
        <p:spPr>
          <a:xfrm>
            <a:off x="4800600" y="3848040"/>
            <a:ext cx="11728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✓ Estrutura gramatical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3"/>
          <p:cNvSpPr/>
          <p:nvPr/>
        </p:nvSpPr>
        <p:spPr>
          <a:xfrm>
            <a:off x="6141240" y="3772080"/>
            <a:ext cx="1760040" cy="304560"/>
          </a:xfrm>
          <a:prstGeom prst="roundRect">
            <a:avLst>
              <a:gd name="adj" fmla="val 18750"/>
            </a:avLst>
          </a:prstGeom>
          <a:solidFill>
            <a:srgbClr val="e8f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 24"/>
          <p:cNvSpPr/>
          <p:nvPr/>
        </p:nvSpPr>
        <p:spPr>
          <a:xfrm>
            <a:off x="6255720" y="3848040"/>
            <a:ext cx="1562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✓ Precedência de operadores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5"/>
          <p:cNvSpPr/>
          <p:nvPr/>
        </p:nvSpPr>
        <p:spPr>
          <a:xfrm>
            <a:off x="4686480" y="4152960"/>
            <a:ext cx="1181880" cy="304560"/>
          </a:xfrm>
          <a:prstGeom prst="roundRect">
            <a:avLst>
              <a:gd name="adj" fmla="val 18750"/>
            </a:avLst>
          </a:prstGeom>
          <a:solidFill>
            <a:srgbClr val="ffeb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 26"/>
          <p:cNvSpPr/>
          <p:nvPr/>
        </p:nvSpPr>
        <p:spPr>
          <a:xfrm>
            <a:off x="4800600" y="4229280"/>
            <a:ext cx="9723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✓ Erros de sintaxe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0"/>
          <p:cNvSpPr/>
          <p:nvPr/>
        </p:nvSpPr>
        <p:spPr>
          <a:xfrm>
            <a:off x="0" y="0"/>
            <a:ext cx="9143640" cy="761760"/>
          </a:xfrm>
          <a:prstGeom prst="rect">
            <a:avLst/>
          </a:prstGeom>
          <a:solidFill>
            <a:srgbClr val="1b5e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 1"/>
          <p:cNvSpPr/>
          <p:nvPr/>
        </p:nvSpPr>
        <p:spPr>
          <a:xfrm>
            <a:off x="304920" y="228600"/>
            <a:ext cx="43617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Fase 3: Análise Semântica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"/>
          <p:cNvSpPr/>
          <p:nvPr/>
        </p:nvSpPr>
        <p:spPr>
          <a:xfrm>
            <a:off x="304920" y="1066680"/>
            <a:ext cx="8534160" cy="418680"/>
          </a:xfrm>
          <a:prstGeom prst="roundRect">
            <a:avLst>
              <a:gd name="adj" fmla="val 18182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 3"/>
          <p:cNvSpPr/>
          <p:nvPr/>
        </p:nvSpPr>
        <p:spPr>
          <a:xfrm>
            <a:off x="457200" y="1181160"/>
            <a:ext cx="839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b5e20"/>
                </a:solidFill>
                <a:effectLst/>
                <a:uFillTx/>
                <a:latin typeface="Arial"/>
                <a:ea typeface="Arial"/>
              </a:rPr>
              <a:t>O que faz?</a:t>
            </a:r>
            <a:r>
              <a:rPr b="0" lang="en-US" sz="105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 Verifica a correção lógica que a sintaxe não consegue garantir.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4"/>
          <p:cNvSpPr/>
          <p:nvPr/>
        </p:nvSpPr>
        <p:spPr>
          <a:xfrm>
            <a:off x="304920" y="1981080"/>
            <a:ext cx="42937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c62828"/>
                </a:solidFill>
                <a:effectLst/>
                <a:uFillTx/>
                <a:latin typeface="Arial"/>
                <a:ea typeface="Arial"/>
              </a:rPr>
              <a:t>Verificações: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5"/>
          <p:cNvSpPr/>
          <p:nvPr/>
        </p:nvSpPr>
        <p:spPr>
          <a:xfrm>
            <a:off x="304920" y="2247840"/>
            <a:ext cx="4209840" cy="533160"/>
          </a:xfrm>
          <a:prstGeom prst="roundRect">
            <a:avLst>
              <a:gd name="adj" fmla="val 10714"/>
            </a:avLst>
          </a:prstGeom>
          <a:solidFill>
            <a:srgbClr val="ffeb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399960" y="2343240"/>
            <a:ext cx="40996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99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9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1. Declaração de Variáveis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7"/>
          <p:cNvSpPr/>
          <p:nvPr/>
        </p:nvSpPr>
        <p:spPr>
          <a:xfrm>
            <a:off x="399960" y="2533680"/>
            <a:ext cx="40996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c62828"/>
                </a:solidFill>
                <a:effectLst/>
                <a:uFillTx/>
                <a:latin typeface="monospace"/>
                <a:ea typeface="monospace"/>
              </a:rPr>
              <a:t>escreva(x) //  não declarada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8"/>
          <p:cNvSpPr/>
          <p:nvPr/>
        </p:nvSpPr>
        <p:spPr>
          <a:xfrm>
            <a:off x="304920" y="2857680"/>
            <a:ext cx="4209840" cy="533160"/>
          </a:xfrm>
          <a:prstGeom prst="roundRect">
            <a:avLst>
              <a:gd name="adj" fmla="val 10714"/>
            </a:avLst>
          </a:prstGeom>
          <a:solidFill>
            <a:srgbClr val="ffeb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 9"/>
          <p:cNvSpPr/>
          <p:nvPr/>
        </p:nvSpPr>
        <p:spPr>
          <a:xfrm>
            <a:off x="399960" y="2952720"/>
            <a:ext cx="40996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99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9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2. Compatibilidade de Tipos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0"/>
          <p:cNvSpPr/>
          <p:nvPr/>
        </p:nvSpPr>
        <p:spPr>
          <a:xfrm>
            <a:off x="399960" y="3143160"/>
            <a:ext cx="40996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c62828"/>
                </a:solidFill>
                <a:effectLst/>
                <a:uFillTx/>
                <a:latin typeface="monospace"/>
                <a:ea typeface="monospace"/>
              </a:rPr>
              <a:t>"olá" + 5 //  tipos incompatíveis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1"/>
          <p:cNvSpPr/>
          <p:nvPr/>
        </p:nvSpPr>
        <p:spPr>
          <a:xfrm>
            <a:off x="304920" y="3467160"/>
            <a:ext cx="4209840" cy="533160"/>
          </a:xfrm>
          <a:prstGeom prst="roundRect">
            <a:avLst>
              <a:gd name="adj" fmla="val 10714"/>
            </a:avLst>
          </a:prstGeom>
          <a:solidFill>
            <a:srgbClr val="ffeb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 12"/>
          <p:cNvSpPr/>
          <p:nvPr/>
        </p:nvSpPr>
        <p:spPr>
          <a:xfrm>
            <a:off x="399960" y="3562200"/>
            <a:ext cx="40996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99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9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3. Escopo de Variáveis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3"/>
          <p:cNvSpPr/>
          <p:nvPr/>
        </p:nvSpPr>
        <p:spPr>
          <a:xfrm>
            <a:off x="399960" y="3753000"/>
            <a:ext cx="40996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c62828"/>
                </a:solidFill>
                <a:effectLst/>
                <a:uFillTx/>
                <a:latin typeface="monospace"/>
                <a:ea typeface="monospace"/>
              </a:rPr>
              <a:t>local //  fora do escopo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4"/>
          <p:cNvSpPr/>
          <p:nvPr/>
        </p:nvSpPr>
        <p:spPr>
          <a:xfrm>
            <a:off x="304920" y="4076640"/>
            <a:ext cx="4209840" cy="533160"/>
          </a:xfrm>
          <a:prstGeom prst="roundRect">
            <a:avLst>
              <a:gd name="adj" fmla="val 10714"/>
            </a:avLst>
          </a:prstGeom>
          <a:solidFill>
            <a:srgbClr val="ffeb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 15"/>
          <p:cNvSpPr/>
          <p:nvPr/>
        </p:nvSpPr>
        <p:spPr>
          <a:xfrm>
            <a:off x="399960" y="4172040"/>
            <a:ext cx="40996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99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9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4. Tipos de Retorno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6"/>
          <p:cNvSpPr/>
          <p:nvPr/>
        </p:nvSpPr>
        <p:spPr>
          <a:xfrm>
            <a:off x="399960" y="4362480"/>
            <a:ext cx="40996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c62828"/>
                </a:solidFill>
                <a:effectLst/>
                <a:uFillTx/>
                <a:latin typeface="monospace"/>
                <a:ea typeface="monospace"/>
              </a:rPr>
              <a:t>retorna "x" //  deveria ser inteiro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7"/>
          <p:cNvSpPr/>
          <p:nvPr/>
        </p:nvSpPr>
        <p:spPr>
          <a:xfrm>
            <a:off x="4629240" y="2281320"/>
            <a:ext cx="42937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0d47a1"/>
                </a:solidFill>
                <a:effectLst/>
                <a:uFillTx/>
                <a:latin typeface="Arial"/>
                <a:ea typeface="Arial"/>
              </a:rPr>
              <a:t>Tabela de Símbolos: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8"/>
          <p:cNvSpPr/>
          <p:nvPr/>
        </p:nvSpPr>
        <p:spPr>
          <a:xfrm>
            <a:off x="4629240" y="2548080"/>
            <a:ext cx="4209840" cy="1761840"/>
          </a:xfrm>
          <a:prstGeom prst="roundRect">
            <a:avLst>
              <a:gd name="adj" fmla="val 3243"/>
            </a:avLst>
          </a:prstGeom>
          <a:solidFill>
            <a:srgbClr val="e3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7" name="Shape 19"/>
          <p:cNvSpPr/>
          <p:nvPr/>
        </p:nvSpPr>
        <p:spPr>
          <a:xfrm>
            <a:off x="4724280" y="2952720"/>
            <a:ext cx="4019400" cy="360"/>
          </a:xfrm>
          <a:prstGeom prst="line">
            <a:avLst/>
          </a:prstGeom>
          <a:ln w="9525">
            <a:solidFill>
              <a:srgbClr val="90ca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0"/>
          <p:cNvSpPr/>
          <p:nvPr/>
        </p:nvSpPr>
        <p:spPr>
          <a:xfrm>
            <a:off x="4724280" y="2643120"/>
            <a:ext cx="1340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Nome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1"/>
          <p:cNvSpPr/>
          <p:nvPr/>
        </p:nvSpPr>
        <p:spPr>
          <a:xfrm>
            <a:off x="6076800" y="2643120"/>
            <a:ext cx="1340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Tipo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2"/>
          <p:cNvSpPr/>
          <p:nvPr/>
        </p:nvSpPr>
        <p:spPr>
          <a:xfrm>
            <a:off x="7429680" y="2643120"/>
            <a:ext cx="1340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Escopo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3"/>
          <p:cNvSpPr/>
          <p:nvPr/>
        </p:nvSpPr>
        <p:spPr>
          <a:xfrm>
            <a:off x="4724280" y="3014640"/>
            <a:ext cx="1340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fatorial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4"/>
          <p:cNvSpPr/>
          <p:nvPr/>
        </p:nvSpPr>
        <p:spPr>
          <a:xfrm>
            <a:off x="6076800" y="3014640"/>
            <a:ext cx="1340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funcao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5"/>
          <p:cNvSpPr/>
          <p:nvPr/>
        </p:nvSpPr>
        <p:spPr>
          <a:xfrm>
            <a:off x="7429680" y="3014640"/>
            <a:ext cx="1340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0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6"/>
          <p:cNvSpPr/>
          <p:nvPr/>
        </p:nvSpPr>
        <p:spPr>
          <a:xfrm>
            <a:off x="4724280" y="3319560"/>
            <a:ext cx="1340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7"/>
          <p:cNvSpPr/>
          <p:nvPr/>
        </p:nvSpPr>
        <p:spPr>
          <a:xfrm>
            <a:off x="6076800" y="3319560"/>
            <a:ext cx="1340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inteiro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8"/>
          <p:cNvSpPr/>
          <p:nvPr/>
        </p:nvSpPr>
        <p:spPr>
          <a:xfrm>
            <a:off x="7429680" y="3319560"/>
            <a:ext cx="1340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1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9"/>
          <p:cNvSpPr/>
          <p:nvPr/>
        </p:nvSpPr>
        <p:spPr>
          <a:xfrm>
            <a:off x="4724280" y="3624120"/>
            <a:ext cx="1340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principal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30"/>
          <p:cNvSpPr/>
          <p:nvPr/>
        </p:nvSpPr>
        <p:spPr>
          <a:xfrm>
            <a:off x="6076800" y="3624120"/>
            <a:ext cx="1340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funcao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31"/>
          <p:cNvSpPr/>
          <p:nvPr/>
        </p:nvSpPr>
        <p:spPr>
          <a:xfrm>
            <a:off x="7429680" y="3624120"/>
            <a:ext cx="1340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0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32"/>
          <p:cNvSpPr/>
          <p:nvPr/>
        </p:nvSpPr>
        <p:spPr>
          <a:xfrm>
            <a:off x="4724280" y="3929040"/>
            <a:ext cx="1340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nome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33"/>
          <p:cNvSpPr/>
          <p:nvPr/>
        </p:nvSpPr>
        <p:spPr>
          <a:xfrm>
            <a:off x="6076800" y="3929040"/>
            <a:ext cx="1340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texto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34"/>
          <p:cNvSpPr/>
          <p:nvPr/>
        </p:nvSpPr>
        <p:spPr>
          <a:xfrm>
            <a:off x="7429680" y="3929040"/>
            <a:ext cx="1340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1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0" y="0"/>
            <a:ext cx="9143640" cy="761760"/>
          </a:xfrm>
          <a:prstGeom prst="rect">
            <a:avLst/>
          </a:prstGeom>
          <a:solidFill>
            <a:srgbClr val="1b5e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304920" y="228600"/>
            <a:ext cx="43617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Fase 4: Geração de Código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"/>
          <p:cNvSpPr/>
          <p:nvPr/>
        </p:nvSpPr>
        <p:spPr>
          <a:xfrm>
            <a:off x="304920" y="1066680"/>
            <a:ext cx="8534160" cy="38052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 3"/>
          <p:cNvSpPr/>
          <p:nvPr/>
        </p:nvSpPr>
        <p:spPr>
          <a:xfrm>
            <a:off x="457200" y="1162080"/>
            <a:ext cx="839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b5e20"/>
                </a:solidFill>
                <a:effectLst/>
                <a:uFillTx/>
                <a:latin typeface="Arial"/>
                <a:ea typeface="Arial"/>
              </a:rPr>
              <a:t>O que faz?</a:t>
            </a:r>
            <a:r>
              <a:rPr b="0" lang="en-US" sz="105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 Percorre a AST e gera código Python equivalente usando o padrão Visitor.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4"/>
          <p:cNvSpPr/>
          <p:nvPr/>
        </p:nvSpPr>
        <p:spPr>
          <a:xfrm>
            <a:off x="304920" y="2114640"/>
            <a:ext cx="40122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spcAft>
                <a:spcPts val="451"/>
              </a:spcAft>
              <a:tabLst>
                <a:tab algn="l" pos="0"/>
              </a:tabLst>
            </a:pPr>
            <a:r>
              <a:rPr b="1" lang="en-US" sz="1050" strike="noStrike" u="none">
                <a:solidFill>
                  <a:srgbClr val="0d47a1"/>
                </a:solidFill>
                <a:effectLst/>
                <a:uFillTx/>
                <a:latin typeface="Arial"/>
                <a:ea typeface="Arial"/>
              </a:rPr>
              <a:t>Lusitano (Entrada):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304920" y="2514600"/>
            <a:ext cx="3933360" cy="1390320"/>
          </a:xfrm>
          <a:prstGeom prst="roundRect">
            <a:avLst>
              <a:gd name="adj" fmla="val 5479"/>
            </a:avLst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 6"/>
          <p:cNvSpPr/>
          <p:nvPr/>
        </p:nvSpPr>
        <p:spPr>
          <a:xfrm>
            <a:off x="419040" y="2647800"/>
            <a:ext cx="3778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funcao fatorial(n: inteiro): inteiro {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7"/>
          <p:cNvSpPr/>
          <p:nvPr/>
        </p:nvSpPr>
        <p:spPr>
          <a:xfrm>
            <a:off x="419040" y="2933640"/>
            <a:ext cx="3778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se (n &lt;= 1) { retorna 1 }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8"/>
          <p:cNvSpPr/>
          <p:nvPr/>
        </p:nvSpPr>
        <p:spPr>
          <a:xfrm>
            <a:off x="419040" y="3219480"/>
            <a:ext cx="3778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retorna n * fatorial(n - 1)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9"/>
          <p:cNvSpPr/>
          <p:nvPr/>
        </p:nvSpPr>
        <p:spPr>
          <a:xfrm>
            <a:off x="419040" y="3505320"/>
            <a:ext cx="3778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}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0"/>
          <p:cNvSpPr/>
          <p:nvPr/>
        </p:nvSpPr>
        <p:spPr>
          <a:xfrm>
            <a:off x="4429080" y="2838600"/>
            <a:ext cx="2912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n-US" sz="2250" strike="noStrike" u="none">
                <a:solidFill>
                  <a:srgbClr val="1b5e20"/>
                </a:solidFill>
                <a:effectLst/>
                <a:uFillTx/>
                <a:latin typeface="Arial"/>
                <a:ea typeface="Arial"/>
              </a:rPr>
              <a:t>→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1"/>
          <p:cNvSpPr/>
          <p:nvPr/>
        </p:nvSpPr>
        <p:spPr>
          <a:xfrm>
            <a:off x="4905360" y="2257560"/>
            <a:ext cx="40122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spcAft>
                <a:spcPts val="451"/>
              </a:spcAft>
              <a:tabLst>
                <a:tab algn="l" pos="0"/>
              </a:tabLst>
            </a:pPr>
            <a:r>
              <a:rPr b="1" lang="en-US" sz="1050" strike="noStrike" u="none">
                <a:solidFill>
                  <a:srgbClr val="1b5e20"/>
                </a:solidFill>
                <a:effectLst/>
                <a:uFillTx/>
                <a:latin typeface="Arial"/>
                <a:ea typeface="Arial"/>
              </a:rPr>
              <a:t>Python (Saída):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2"/>
          <p:cNvSpPr/>
          <p:nvPr/>
        </p:nvSpPr>
        <p:spPr>
          <a:xfrm>
            <a:off x="4905360" y="2657520"/>
            <a:ext cx="3933360" cy="1104480"/>
          </a:xfrm>
          <a:prstGeom prst="roundRect">
            <a:avLst>
              <a:gd name="adj" fmla="val 6897"/>
            </a:avLst>
          </a:prstGeom>
          <a:solidFill>
            <a:srgbClr val="1b5e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 13"/>
          <p:cNvSpPr/>
          <p:nvPr/>
        </p:nvSpPr>
        <p:spPr>
          <a:xfrm>
            <a:off x="5019840" y="2790720"/>
            <a:ext cx="3778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def fatorial(n):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4"/>
          <p:cNvSpPr/>
          <p:nvPr/>
        </p:nvSpPr>
        <p:spPr>
          <a:xfrm>
            <a:off x="5019840" y="3076560"/>
            <a:ext cx="3778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if (n &lt;= 1): return 1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5"/>
          <p:cNvSpPr/>
          <p:nvPr/>
        </p:nvSpPr>
        <p:spPr>
          <a:xfrm>
            <a:off x="5019840" y="3362400"/>
            <a:ext cx="3778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return (n * fatorial((n - 1)))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6"/>
          <p:cNvSpPr/>
          <p:nvPr/>
        </p:nvSpPr>
        <p:spPr>
          <a:xfrm>
            <a:off x="304920" y="4572000"/>
            <a:ext cx="8534160" cy="418680"/>
          </a:xfrm>
          <a:prstGeom prst="roundRect">
            <a:avLst>
              <a:gd name="adj" fmla="val 18182"/>
            </a:avLst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 17"/>
          <p:cNvSpPr/>
          <p:nvPr/>
        </p:nvSpPr>
        <p:spPr>
          <a:xfrm>
            <a:off x="413640" y="4686480"/>
            <a:ext cx="83160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Mapeamentos:</a:t>
            </a:r>
            <a:r>
              <a:rPr b="0" lang="en-US" sz="105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 se/senao → if/else | enquanto → while | para de ate → for in range | e/ou/nao → and/or/not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0" y="0"/>
            <a:ext cx="9143640" cy="761760"/>
          </a:xfrm>
          <a:prstGeom prst="rect">
            <a:avLst/>
          </a:prstGeom>
          <a:solidFill>
            <a:srgbClr val="1b5e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304920" y="228600"/>
            <a:ext cx="43617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Exemplo: Sintaxe Lusitano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"/>
          <p:cNvSpPr/>
          <p:nvPr/>
        </p:nvSpPr>
        <p:spPr>
          <a:xfrm>
            <a:off x="304920" y="1219320"/>
            <a:ext cx="51058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050" strike="noStrike" u="none">
                <a:solidFill>
                  <a:srgbClr val="0d47a1"/>
                </a:solidFill>
                <a:effectLst/>
                <a:uFillTx/>
                <a:latin typeface="Arial"/>
                <a:ea typeface="Arial"/>
              </a:rPr>
              <a:t>Código Lusitano: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304920" y="1638360"/>
            <a:ext cx="5005800" cy="3200040"/>
          </a:xfrm>
          <a:prstGeom prst="roundRect">
            <a:avLst>
              <a:gd name="adj" fmla="val 2381"/>
            </a:avLst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438120" y="1790640"/>
            <a:ext cx="4834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// Programa de demonstração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438120" y="2076480"/>
            <a:ext cx="4834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ff79c6"/>
                </a:solidFill>
                <a:effectLst/>
                <a:uFillTx/>
                <a:latin typeface="Arial"/>
                <a:ea typeface="Arial"/>
              </a:rPr>
              <a:t>funcao</a:t>
            </a: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Arial"/>
                <a:ea typeface="Arial"/>
              </a:rPr>
              <a:t> fatorial(n: </a:t>
            </a:r>
            <a:r>
              <a:rPr b="0" lang="en-US" sz="1500" strike="noStrike" u="none">
                <a:solidFill>
                  <a:srgbClr val="8be9fd"/>
                </a:solidFill>
                <a:effectLst/>
                <a:uFillTx/>
                <a:latin typeface="Arial"/>
                <a:ea typeface="Arial"/>
              </a:rPr>
              <a:t>inteiro</a:t>
            </a: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Arial"/>
                <a:ea typeface="Arial"/>
              </a:rPr>
              <a:t>): </a:t>
            </a:r>
            <a:r>
              <a:rPr b="0" lang="en-US" sz="1500" strike="noStrike" u="none">
                <a:solidFill>
                  <a:srgbClr val="8be9fd"/>
                </a:solidFill>
                <a:effectLst/>
                <a:uFillTx/>
                <a:latin typeface="Arial"/>
                <a:ea typeface="Arial"/>
              </a:rPr>
              <a:t>inteiro</a:t>
            </a: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Arial"/>
                <a:ea typeface="Arial"/>
              </a:rPr>
              <a:t> {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6"/>
          <p:cNvSpPr/>
          <p:nvPr/>
        </p:nvSpPr>
        <p:spPr>
          <a:xfrm>
            <a:off x="438120" y="2362320"/>
            <a:ext cx="4834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ff79c6"/>
                </a:solidFill>
                <a:effectLst/>
                <a:uFillTx/>
                <a:latin typeface="Arial"/>
                <a:ea typeface="Arial"/>
              </a:rPr>
              <a:t>se</a:t>
            </a: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Arial"/>
                <a:ea typeface="Arial"/>
              </a:rPr>
              <a:t> (n &lt;= 1) { </a:t>
            </a:r>
            <a:r>
              <a:rPr b="0" lang="en-US" sz="1500" strike="noStrike" u="none">
                <a:solidFill>
                  <a:srgbClr val="ff79c6"/>
                </a:solidFill>
                <a:effectLst/>
                <a:uFillTx/>
                <a:latin typeface="Arial"/>
                <a:ea typeface="Arial"/>
              </a:rPr>
              <a:t>retorna</a:t>
            </a: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Arial"/>
                <a:ea typeface="Arial"/>
              </a:rPr>
              <a:t> 1 }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7"/>
          <p:cNvSpPr/>
          <p:nvPr/>
        </p:nvSpPr>
        <p:spPr>
          <a:xfrm>
            <a:off x="438120" y="2647800"/>
            <a:ext cx="4834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ff79c6"/>
                </a:solidFill>
                <a:effectLst/>
                <a:uFillTx/>
                <a:latin typeface="Arial"/>
                <a:ea typeface="Arial"/>
              </a:rPr>
              <a:t>retorna</a:t>
            </a: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Arial"/>
                <a:ea typeface="Arial"/>
              </a:rPr>
              <a:t> n * fatorial(n - 1)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8"/>
          <p:cNvSpPr/>
          <p:nvPr/>
        </p:nvSpPr>
        <p:spPr>
          <a:xfrm>
            <a:off x="438120" y="2933640"/>
            <a:ext cx="4834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Arial"/>
                <a:ea typeface="Arial"/>
              </a:rPr>
              <a:t>}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9"/>
          <p:cNvSpPr/>
          <p:nvPr/>
        </p:nvSpPr>
        <p:spPr>
          <a:xfrm>
            <a:off x="438120" y="3276720"/>
            <a:ext cx="4834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601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ff79c6"/>
                </a:solidFill>
                <a:effectLst/>
                <a:uFillTx/>
                <a:latin typeface="Arial"/>
                <a:ea typeface="Arial"/>
              </a:rPr>
              <a:t>funcao</a:t>
            </a: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Arial"/>
                <a:ea typeface="Arial"/>
              </a:rPr>
              <a:t> principal() {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0"/>
          <p:cNvSpPr/>
          <p:nvPr/>
        </p:nvSpPr>
        <p:spPr>
          <a:xfrm>
            <a:off x="438120" y="3562200"/>
            <a:ext cx="4834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ff79c6"/>
                </a:solidFill>
                <a:effectLst/>
                <a:uFillTx/>
                <a:latin typeface="Arial"/>
                <a:ea typeface="Arial"/>
              </a:rPr>
              <a:t>para</a:t>
            </a: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Arial"/>
                <a:ea typeface="Arial"/>
              </a:rPr>
              <a:t> i </a:t>
            </a:r>
            <a:r>
              <a:rPr b="0" lang="en-US" sz="1500" strike="noStrike" u="none">
                <a:solidFill>
                  <a:srgbClr val="ff79c6"/>
                </a:solidFill>
                <a:effectLst/>
                <a:uFillTx/>
                <a:latin typeface="Arial"/>
                <a:ea typeface="Arial"/>
              </a:rPr>
              <a:t>de</a:t>
            </a: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Arial"/>
                <a:ea typeface="Arial"/>
              </a:rPr>
              <a:t> 1 </a:t>
            </a:r>
            <a:r>
              <a:rPr b="0" lang="en-US" sz="1500" strike="noStrike" u="none">
                <a:solidFill>
                  <a:srgbClr val="ff79c6"/>
                </a:solidFill>
                <a:effectLst/>
                <a:uFillTx/>
                <a:latin typeface="Arial"/>
                <a:ea typeface="Arial"/>
              </a:rPr>
              <a:t>ate</a:t>
            </a: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Arial"/>
                <a:ea typeface="Arial"/>
              </a:rPr>
              <a:t> 5 {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1"/>
          <p:cNvSpPr/>
          <p:nvPr/>
        </p:nvSpPr>
        <p:spPr>
          <a:xfrm>
            <a:off x="438120" y="3848040"/>
            <a:ext cx="4834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Arial"/>
                <a:ea typeface="Arial"/>
              </a:rPr>
              <a:t>escreva(i, </a:t>
            </a:r>
            <a:r>
              <a:rPr b="0" lang="en-US" sz="1500" strike="noStrike" u="none">
                <a:solidFill>
                  <a:srgbClr val="f1fa8c"/>
                </a:solidFill>
                <a:effectLst/>
                <a:uFillTx/>
                <a:latin typeface="Arial"/>
                <a:ea typeface="Arial"/>
              </a:rPr>
              <a:t>"! = "</a:t>
            </a: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Arial"/>
                <a:ea typeface="Arial"/>
              </a:rPr>
              <a:t>, fatorial(i))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2"/>
          <p:cNvSpPr/>
          <p:nvPr/>
        </p:nvSpPr>
        <p:spPr>
          <a:xfrm>
            <a:off x="438120" y="4133880"/>
            <a:ext cx="4834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Arial"/>
                <a:ea typeface="Arial"/>
              </a:rPr>
              <a:t>}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3"/>
          <p:cNvSpPr/>
          <p:nvPr/>
        </p:nvSpPr>
        <p:spPr>
          <a:xfrm>
            <a:off x="438120" y="4419720"/>
            <a:ext cx="4834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Arial"/>
                <a:ea typeface="Arial"/>
              </a:rPr>
              <a:t>}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4"/>
          <p:cNvSpPr/>
          <p:nvPr/>
        </p:nvSpPr>
        <p:spPr>
          <a:xfrm>
            <a:off x="5501520" y="1362240"/>
            <a:ext cx="34041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b5e20"/>
                </a:solidFill>
                <a:effectLst/>
                <a:uFillTx/>
                <a:latin typeface="Arial"/>
                <a:ea typeface="Arial"/>
              </a:rPr>
              <a:t>Saída do Compilador: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5"/>
          <p:cNvSpPr/>
          <p:nvPr/>
        </p:nvSpPr>
        <p:spPr>
          <a:xfrm>
            <a:off x="5501520" y="1666800"/>
            <a:ext cx="3337200" cy="933120"/>
          </a:xfrm>
          <a:prstGeom prst="roundRect">
            <a:avLst>
              <a:gd name="adj" fmla="val 8163"/>
            </a:avLst>
          </a:prstGeom>
          <a:solidFill>
            <a:srgbClr val="e8f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 16"/>
          <p:cNvSpPr/>
          <p:nvPr/>
        </p:nvSpPr>
        <p:spPr>
          <a:xfrm>
            <a:off x="5616000" y="1800360"/>
            <a:ext cx="31708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99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900" strike="noStrike" u="none">
                <a:solidFill>
                  <a:srgbClr val="1b5e20"/>
                </a:solidFill>
                <a:effectLst/>
                <a:uFillTx/>
                <a:latin typeface="Arial"/>
                <a:ea typeface="Arial"/>
              </a:rPr>
              <a:t>✓ Análise léxica: 48 tokens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7"/>
          <p:cNvSpPr/>
          <p:nvPr/>
        </p:nvSpPr>
        <p:spPr>
          <a:xfrm>
            <a:off x="5616000" y="1971720"/>
            <a:ext cx="31708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99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900" strike="noStrike" u="none">
                <a:solidFill>
                  <a:srgbClr val="1b5e20"/>
                </a:solidFill>
                <a:effectLst/>
                <a:uFillTx/>
                <a:latin typeface="Arial"/>
                <a:ea typeface="Arial"/>
              </a:rPr>
              <a:t>✓ Análise sintática: 2 funções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8"/>
          <p:cNvSpPr/>
          <p:nvPr/>
        </p:nvSpPr>
        <p:spPr>
          <a:xfrm>
            <a:off x="5616000" y="2143080"/>
            <a:ext cx="31708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99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900" strike="noStrike" u="none">
                <a:solidFill>
                  <a:srgbClr val="1b5e20"/>
                </a:solidFill>
                <a:effectLst/>
                <a:uFillTx/>
                <a:latin typeface="Arial"/>
                <a:ea typeface="Arial"/>
              </a:rPr>
              <a:t>✓ Análise semântica: sem erros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9"/>
          <p:cNvSpPr/>
          <p:nvPr/>
        </p:nvSpPr>
        <p:spPr>
          <a:xfrm>
            <a:off x="5616000" y="2314440"/>
            <a:ext cx="31708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99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900" strike="noStrike" u="none">
                <a:solidFill>
                  <a:srgbClr val="1b5e20"/>
                </a:solidFill>
                <a:effectLst/>
                <a:uFillTx/>
                <a:latin typeface="Arial"/>
                <a:ea typeface="Arial"/>
              </a:rPr>
              <a:t>✓ Código Python gerado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0"/>
          <p:cNvSpPr/>
          <p:nvPr/>
        </p:nvSpPr>
        <p:spPr>
          <a:xfrm>
            <a:off x="5501520" y="2714760"/>
            <a:ext cx="34041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0d47a1"/>
                </a:solidFill>
                <a:effectLst/>
                <a:uFillTx/>
                <a:latin typeface="Arial"/>
                <a:ea typeface="Arial"/>
              </a:rPr>
              <a:t>Execução: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1"/>
          <p:cNvSpPr/>
          <p:nvPr/>
        </p:nvSpPr>
        <p:spPr>
          <a:xfrm>
            <a:off x="5501520" y="3019320"/>
            <a:ext cx="3337200" cy="1676160"/>
          </a:xfrm>
          <a:prstGeom prst="roundRect">
            <a:avLst>
              <a:gd name="adj" fmla="val 4545"/>
            </a:avLst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 22"/>
          <p:cNvSpPr/>
          <p:nvPr/>
        </p:nvSpPr>
        <p:spPr>
          <a:xfrm>
            <a:off x="5616000" y="3152880"/>
            <a:ext cx="31708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Arial"/>
                <a:ea typeface="Arial"/>
              </a:rPr>
              <a:t>1! = 1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3"/>
          <p:cNvSpPr/>
          <p:nvPr/>
        </p:nvSpPr>
        <p:spPr>
          <a:xfrm>
            <a:off x="5616000" y="3438360"/>
            <a:ext cx="31708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Arial"/>
                <a:ea typeface="Arial"/>
              </a:rPr>
              <a:t>2! = 2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4"/>
          <p:cNvSpPr/>
          <p:nvPr/>
        </p:nvSpPr>
        <p:spPr>
          <a:xfrm>
            <a:off x="5616000" y="3724200"/>
            <a:ext cx="31708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Arial"/>
                <a:ea typeface="Arial"/>
              </a:rPr>
              <a:t>3! = 6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5"/>
          <p:cNvSpPr/>
          <p:nvPr/>
        </p:nvSpPr>
        <p:spPr>
          <a:xfrm>
            <a:off x="5616000" y="4010040"/>
            <a:ext cx="31708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Arial"/>
                <a:ea typeface="Arial"/>
              </a:rPr>
              <a:t>4! = 24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6"/>
          <p:cNvSpPr/>
          <p:nvPr/>
        </p:nvSpPr>
        <p:spPr>
          <a:xfrm>
            <a:off x="5616000" y="4295880"/>
            <a:ext cx="31708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Arial"/>
                <a:ea typeface="Arial"/>
              </a:rPr>
              <a:t>5! = 120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 0"/>
          <p:cNvSpPr/>
          <p:nvPr/>
        </p:nvSpPr>
        <p:spPr>
          <a:xfrm>
            <a:off x="0" y="0"/>
            <a:ext cx="9143640" cy="761760"/>
          </a:xfrm>
          <a:prstGeom prst="rect">
            <a:avLst/>
          </a:prstGeom>
          <a:solidFill>
            <a:srgbClr val="1b5e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 1"/>
          <p:cNvSpPr/>
          <p:nvPr/>
        </p:nvSpPr>
        <p:spPr>
          <a:xfrm>
            <a:off x="304920" y="228600"/>
            <a:ext cx="43617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Tratamento de Erros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"/>
          <p:cNvSpPr/>
          <p:nvPr/>
        </p:nvSpPr>
        <p:spPr>
          <a:xfrm>
            <a:off x="304920" y="1285920"/>
            <a:ext cx="4190760" cy="1828440"/>
          </a:xfrm>
          <a:prstGeom prst="roundRect">
            <a:avLst>
              <a:gd name="adj" fmla="val 4167"/>
            </a:avLst>
          </a:prstGeom>
          <a:solidFill>
            <a:srgbClr val="ffeb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1" name="Shape 3"/>
          <p:cNvSpPr/>
          <p:nvPr/>
        </p:nvSpPr>
        <p:spPr>
          <a:xfrm>
            <a:off x="323640" y="1285560"/>
            <a:ext cx="360" cy="1828800"/>
          </a:xfrm>
          <a:prstGeom prst="line">
            <a:avLst/>
          </a:prstGeom>
          <a:ln w="3810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4"/>
          <p:cNvSpPr/>
          <p:nvPr/>
        </p:nvSpPr>
        <p:spPr>
          <a:xfrm>
            <a:off x="476280" y="1419120"/>
            <a:ext cx="396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spcAft>
                <a:spcPts val="451"/>
              </a:spcAft>
              <a:tabLst>
                <a:tab algn="l" pos="0"/>
              </a:tabLst>
            </a:pPr>
            <a:r>
              <a:rPr b="1" lang="en-US" sz="1050" strike="noStrike" u="none">
                <a:solidFill>
                  <a:srgbClr val="c62828"/>
                </a:solidFill>
                <a:effectLst/>
                <a:uFillTx/>
                <a:latin typeface="Arial"/>
                <a:ea typeface="Arial"/>
              </a:rPr>
              <a:t>Erro Léxico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5"/>
          <p:cNvSpPr/>
          <p:nvPr/>
        </p:nvSpPr>
        <p:spPr>
          <a:xfrm>
            <a:off x="476280" y="1666800"/>
            <a:ext cx="3885840" cy="1314000"/>
          </a:xfrm>
          <a:prstGeom prst="roundRect">
            <a:avLst>
              <a:gd name="adj" fmla="val 2899"/>
            </a:avLst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 6"/>
          <p:cNvSpPr/>
          <p:nvPr/>
        </p:nvSpPr>
        <p:spPr>
          <a:xfrm>
            <a:off x="552600" y="1762200"/>
            <a:ext cx="3808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Arial"/>
                <a:ea typeface="Arial"/>
              </a:rPr>
              <a:t>ERRO na linha 5, coluna 12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7"/>
          <p:cNvSpPr/>
          <p:nvPr/>
        </p:nvSpPr>
        <p:spPr>
          <a:xfrm>
            <a:off x="552600" y="2048040"/>
            <a:ext cx="3808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ff6b6b"/>
                </a:solidFill>
                <a:effectLst/>
                <a:uFillTx/>
                <a:latin typeface="Arial"/>
                <a:ea typeface="Arial"/>
              </a:rPr>
              <a:t>Caractere não reconhecido: '@'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8"/>
          <p:cNvSpPr/>
          <p:nvPr/>
        </p:nvSpPr>
        <p:spPr>
          <a:xfrm>
            <a:off x="552600" y="2333520"/>
            <a:ext cx="3808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var email@ = "teste"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9"/>
          <p:cNvSpPr/>
          <p:nvPr/>
        </p:nvSpPr>
        <p:spPr>
          <a:xfrm>
            <a:off x="552600" y="2619360"/>
            <a:ext cx="3808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ff6b6b"/>
                </a:solidFill>
                <a:effectLst/>
                <a:uFillTx/>
                <a:latin typeface="Arial"/>
                <a:ea typeface="Arial"/>
              </a:rPr>
              <a:t>^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0"/>
          <p:cNvSpPr/>
          <p:nvPr/>
        </p:nvSpPr>
        <p:spPr>
          <a:xfrm>
            <a:off x="304920" y="3228840"/>
            <a:ext cx="4190760" cy="1542600"/>
          </a:xfrm>
          <a:prstGeom prst="roundRect">
            <a:avLst>
              <a:gd name="adj" fmla="val 4938"/>
            </a:avLst>
          </a:prstGeom>
          <a:solidFill>
            <a:srgbClr val="fff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9" name="Shape 11"/>
          <p:cNvSpPr/>
          <p:nvPr/>
        </p:nvSpPr>
        <p:spPr>
          <a:xfrm>
            <a:off x="323640" y="3228840"/>
            <a:ext cx="360" cy="1542960"/>
          </a:xfrm>
          <a:prstGeom prst="line">
            <a:avLst/>
          </a:prstGeom>
          <a:ln w="381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2"/>
          <p:cNvSpPr/>
          <p:nvPr/>
        </p:nvSpPr>
        <p:spPr>
          <a:xfrm>
            <a:off x="476280" y="3362400"/>
            <a:ext cx="396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spcAft>
                <a:spcPts val="451"/>
              </a:spcAft>
              <a:tabLst>
                <a:tab algn="l" pos="0"/>
              </a:tabLst>
            </a:pPr>
            <a:r>
              <a:rPr b="1" lang="en-US" sz="1050" strike="noStrike" u="none">
                <a:solidFill>
                  <a:srgbClr val="e65100"/>
                </a:solidFill>
                <a:effectLst/>
                <a:uFillTx/>
                <a:latin typeface="Arial"/>
                <a:ea typeface="Arial"/>
              </a:rPr>
              <a:t>Erro Sintático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3"/>
          <p:cNvSpPr/>
          <p:nvPr/>
        </p:nvSpPr>
        <p:spPr>
          <a:xfrm>
            <a:off x="476280" y="3610080"/>
            <a:ext cx="3885840" cy="1028520"/>
          </a:xfrm>
          <a:prstGeom prst="roundRect">
            <a:avLst>
              <a:gd name="adj" fmla="val 3704"/>
            </a:avLst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 14"/>
          <p:cNvSpPr/>
          <p:nvPr/>
        </p:nvSpPr>
        <p:spPr>
          <a:xfrm>
            <a:off x="552600" y="3705120"/>
            <a:ext cx="3808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Arial"/>
                <a:ea typeface="Arial"/>
              </a:rPr>
              <a:t>ERRO na linha 3, coluna 5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5"/>
          <p:cNvSpPr/>
          <p:nvPr/>
        </p:nvSpPr>
        <p:spPr>
          <a:xfrm>
            <a:off x="552600" y="3990960"/>
            <a:ext cx="3808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ffb74d"/>
                </a:solidFill>
                <a:effectLst/>
                <a:uFillTx/>
                <a:latin typeface="Arial"/>
                <a:ea typeface="Arial"/>
              </a:rPr>
              <a:t>Esperado ')' após condição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6"/>
          <p:cNvSpPr/>
          <p:nvPr/>
        </p:nvSpPr>
        <p:spPr>
          <a:xfrm>
            <a:off x="552600" y="4276800"/>
            <a:ext cx="3808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Token encontrado: '{'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7"/>
          <p:cNvSpPr/>
          <p:nvPr/>
        </p:nvSpPr>
        <p:spPr>
          <a:xfrm>
            <a:off x="4648320" y="1695600"/>
            <a:ext cx="4190760" cy="1257120"/>
          </a:xfrm>
          <a:prstGeom prst="roundRect">
            <a:avLst>
              <a:gd name="adj" fmla="val 6061"/>
            </a:avLst>
          </a:prstGeom>
          <a:solidFill>
            <a:srgbClr val="fce4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6" name="Shape 18"/>
          <p:cNvSpPr/>
          <p:nvPr/>
        </p:nvSpPr>
        <p:spPr>
          <a:xfrm>
            <a:off x="4667040" y="1695240"/>
            <a:ext cx="360" cy="1257480"/>
          </a:xfrm>
          <a:prstGeom prst="line">
            <a:avLst/>
          </a:prstGeom>
          <a:ln w="38100">
            <a:solidFill>
              <a:srgbClr val="ad14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9"/>
          <p:cNvSpPr/>
          <p:nvPr/>
        </p:nvSpPr>
        <p:spPr>
          <a:xfrm>
            <a:off x="4819680" y="1828800"/>
            <a:ext cx="396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spcAft>
                <a:spcPts val="451"/>
              </a:spcAft>
              <a:tabLst>
                <a:tab algn="l" pos="0"/>
              </a:tabLst>
            </a:pPr>
            <a:r>
              <a:rPr b="1" lang="en-US" sz="1050" strike="noStrike" u="none">
                <a:solidFill>
                  <a:srgbClr val="ad1457"/>
                </a:solidFill>
                <a:effectLst/>
                <a:uFillTx/>
                <a:latin typeface="Arial"/>
                <a:ea typeface="Arial"/>
              </a:rPr>
              <a:t>Erro Semântico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0"/>
          <p:cNvSpPr/>
          <p:nvPr/>
        </p:nvSpPr>
        <p:spPr>
          <a:xfrm>
            <a:off x="4819680" y="2076480"/>
            <a:ext cx="3885840" cy="742680"/>
          </a:xfrm>
          <a:prstGeom prst="roundRect">
            <a:avLst>
              <a:gd name="adj" fmla="val 5128"/>
            </a:avLst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 21"/>
          <p:cNvSpPr/>
          <p:nvPr/>
        </p:nvSpPr>
        <p:spPr>
          <a:xfrm>
            <a:off x="4896000" y="2171880"/>
            <a:ext cx="3808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Arial"/>
                <a:ea typeface="Arial"/>
              </a:rPr>
              <a:t>ERRO na linha 7, coluna 10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2"/>
          <p:cNvSpPr/>
          <p:nvPr/>
        </p:nvSpPr>
        <p:spPr>
          <a:xfrm>
            <a:off x="4896000" y="2457360"/>
            <a:ext cx="3808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f48fb1"/>
                </a:solidFill>
                <a:effectLst/>
                <a:uFillTx/>
                <a:latin typeface="Arial"/>
                <a:ea typeface="Arial"/>
              </a:rPr>
              <a:t>Variável 'contador' não declarada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23"/>
          <p:cNvSpPr/>
          <p:nvPr/>
        </p:nvSpPr>
        <p:spPr>
          <a:xfrm>
            <a:off x="4648320" y="3067200"/>
            <a:ext cx="4190760" cy="1294920"/>
          </a:xfrm>
          <a:prstGeom prst="roundRect">
            <a:avLst>
              <a:gd name="adj" fmla="val 5882"/>
            </a:avLst>
          </a:prstGeom>
          <a:solidFill>
            <a:srgbClr val="e8f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 24"/>
          <p:cNvSpPr/>
          <p:nvPr/>
        </p:nvSpPr>
        <p:spPr>
          <a:xfrm>
            <a:off x="4781520" y="3200400"/>
            <a:ext cx="40024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050" strike="noStrike" u="none">
                <a:solidFill>
                  <a:srgbClr val="1b5e20"/>
                </a:solidFill>
                <a:effectLst/>
                <a:uFillTx/>
                <a:latin typeface="Arial"/>
                <a:ea typeface="Arial"/>
              </a:rPr>
              <a:t>Características: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5"/>
          <p:cNvSpPr/>
          <p:nvPr/>
        </p:nvSpPr>
        <p:spPr>
          <a:xfrm>
            <a:off x="4781520" y="3467160"/>
            <a:ext cx="40024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99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b="0" lang="en-US" sz="9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✓ Mensagens claras e detalhadas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26"/>
          <p:cNvSpPr/>
          <p:nvPr/>
        </p:nvSpPr>
        <p:spPr>
          <a:xfrm>
            <a:off x="4781520" y="3657600"/>
            <a:ext cx="40024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99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b="0" lang="en-US" sz="9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✓ Indicação precisa (linha/coluna)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7"/>
          <p:cNvSpPr/>
          <p:nvPr/>
        </p:nvSpPr>
        <p:spPr>
          <a:xfrm>
            <a:off x="4781520" y="3848040"/>
            <a:ext cx="40024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99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b="0" lang="en-US" sz="9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✓ Contexto do erro mostrado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8"/>
          <p:cNvSpPr/>
          <p:nvPr/>
        </p:nvSpPr>
        <p:spPr>
          <a:xfrm>
            <a:off x="4781520" y="4038480"/>
            <a:ext cx="40024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99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b="0" lang="en-US" sz="90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✓ Diferenciação por tipo de erro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 0"/>
          <p:cNvSpPr/>
          <p:nvPr/>
        </p:nvSpPr>
        <p:spPr>
          <a:xfrm>
            <a:off x="0" y="0"/>
            <a:ext cx="9143640" cy="761760"/>
          </a:xfrm>
          <a:prstGeom prst="rect">
            <a:avLst/>
          </a:prstGeom>
          <a:solidFill>
            <a:srgbClr val="1b5e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 1"/>
          <p:cNvSpPr/>
          <p:nvPr/>
        </p:nvSpPr>
        <p:spPr>
          <a:xfrm>
            <a:off x="304920" y="228600"/>
            <a:ext cx="43617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Conclusão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"/>
          <p:cNvSpPr/>
          <p:nvPr/>
        </p:nvSpPr>
        <p:spPr>
          <a:xfrm>
            <a:off x="304920" y="1866960"/>
            <a:ext cx="42552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b5e20"/>
                </a:solidFill>
                <a:effectLst/>
                <a:uFillTx/>
                <a:latin typeface="Arial"/>
                <a:ea typeface="Arial"/>
              </a:rPr>
              <a:t>O que foi implementado: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3"/>
          <p:cNvSpPr/>
          <p:nvPr/>
        </p:nvSpPr>
        <p:spPr>
          <a:xfrm>
            <a:off x="304920" y="2171880"/>
            <a:ext cx="4171680" cy="418680"/>
          </a:xfrm>
          <a:prstGeom prst="roundRect">
            <a:avLst>
              <a:gd name="adj" fmla="val 13636"/>
            </a:avLst>
          </a:prstGeom>
          <a:solidFill>
            <a:srgbClr val="e8f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 4"/>
          <p:cNvSpPr/>
          <p:nvPr/>
        </p:nvSpPr>
        <p:spPr>
          <a:xfrm>
            <a:off x="457200" y="2286000"/>
            <a:ext cx="39441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✓ Scanner - 40+ tokens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5"/>
          <p:cNvSpPr/>
          <p:nvPr/>
        </p:nvSpPr>
        <p:spPr>
          <a:xfrm>
            <a:off x="304920" y="2705040"/>
            <a:ext cx="4171680" cy="418680"/>
          </a:xfrm>
          <a:prstGeom prst="roundRect">
            <a:avLst>
              <a:gd name="adj" fmla="val 13636"/>
            </a:avLst>
          </a:prstGeom>
          <a:solidFill>
            <a:srgbClr val="e8f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 6"/>
          <p:cNvSpPr/>
          <p:nvPr/>
        </p:nvSpPr>
        <p:spPr>
          <a:xfrm>
            <a:off x="457200" y="2819520"/>
            <a:ext cx="39441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✓ Parser - AST completa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7"/>
          <p:cNvSpPr/>
          <p:nvPr/>
        </p:nvSpPr>
        <p:spPr>
          <a:xfrm>
            <a:off x="304920" y="3238560"/>
            <a:ext cx="4171680" cy="418680"/>
          </a:xfrm>
          <a:prstGeom prst="roundRect">
            <a:avLst>
              <a:gd name="adj" fmla="val 13636"/>
            </a:avLst>
          </a:prstGeom>
          <a:solidFill>
            <a:srgbClr val="e8f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 8"/>
          <p:cNvSpPr/>
          <p:nvPr/>
        </p:nvSpPr>
        <p:spPr>
          <a:xfrm>
            <a:off x="457200" y="3352680"/>
            <a:ext cx="39441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✓ Semântico - Tabela símbolos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9"/>
          <p:cNvSpPr/>
          <p:nvPr/>
        </p:nvSpPr>
        <p:spPr>
          <a:xfrm>
            <a:off x="304920" y="3772080"/>
            <a:ext cx="4171680" cy="418680"/>
          </a:xfrm>
          <a:prstGeom prst="roundRect">
            <a:avLst>
              <a:gd name="adj" fmla="val 13636"/>
            </a:avLst>
          </a:prstGeom>
          <a:solidFill>
            <a:srgbClr val="e8f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7" name="Text 10"/>
          <p:cNvSpPr/>
          <p:nvPr/>
        </p:nvSpPr>
        <p:spPr>
          <a:xfrm>
            <a:off x="457200" y="3886200"/>
            <a:ext cx="39441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✓ Gerador - Python executável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1"/>
          <p:cNvSpPr/>
          <p:nvPr/>
        </p:nvSpPr>
        <p:spPr>
          <a:xfrm>
            <a:off x="4667400" y="1866960"/>
            <a:ext cx="42552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0d47a1"/>
                </a:solidFill>
                <a:effectLst/>
                <a:uFillTx/>
                <a:latin typeface="Arial"/>
                <a:ea typeface="Arial"/>
              </a:rPr>
              <a:t>Diferenciais: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2"/>
          <p:cNvSpPr/>
          <p:nvPr/>
        </p:nvSpPr>
        <p:spPr>
          <a:xfrm>
            <a:off x="4667400" y="2171880"/>
            <a:ext cx="4171680" cy="418680"/>
          </a:xfrm>
          <a:prstGeom prst="roundRect">
            <a:avLst>
              <a:gd name="adj" fmla="val 13636"/>
            </a:avLst>
          </a:prstGeom>
          <a:solidFill>
            <a:srgbClr val="e3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 13"/>
          <p:cNvSpPr/>
          <p:nvPr/>
        </p:nvSpPr>
        <p:spPr>
          <a:xfrm>
            <a:off x="4819680" y="2286000"/>
            <a:ext cx="39441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 Sintaxe 100% Português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4"/>
          <p:cNvSpPr/>
          <p:nvPr/>
        </p:nvSpPr>
        <p:spPr>
          <a:xfrm>
            <a:off x="4667400" y="2705040"/>
            <a:ext cx="4171680" cy="418680"/>
          </a:xfrm>
          <a:prstGeom prst="roundRect">
            <a:avLst>
              <a:gd name="adj" fmla="val 13636"/>
            </a:avLst>
          </a:prstGeom>
          <a:solidFill>
            <a:srgbClr val="e3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 15"/>
          <p:cNvSpPr/>
          <p:nvPr/>
        </p:nvSpPr>
        <p:spPr>
          <a:xfrm>
            <a:off x="4819680" y="2819520"/>
            <a:ext cx="39441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 Valor didático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6"/>
          <p:cNvSpPr/>
          <p:nvPr/>
        </p:nvSpPr>
        <p:spPr>
          <a:xfrm>
            <a:off x="4667400" y="3238560"/>
            <a:ext cx="4171680" cy="418680"/>
          </a:xfrm>
          <a:prstGeom prst="roundRect">
            <a:avLst>
              <a:gd name="adj" fmla="val 13636"/>
            </a:avLst>
          </a:prstGeom>
          <a:solidFill>
            <a:srgbClr val="e3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4" name="Text 17"/>
          <p:cNvSpPr/>
          <p:nvPr/>
        </p:nvSpPr>
        <p:spPr>
          <a:xfrm>
            <a:off x="4819680" y="3352680"/>
            <a:ext cx="39441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 Extensível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8"/>
          <p:cNvSpPr/>
          <p:nvPr/>
        </p:nvSpPr>
        <p:spPr>
          <a:xfrm>
            <a:off x="4667400" y="3772080"/>
            <a:ext cx="4171680" cy="418680"/>
          </a:xfrm>
          <a:prstGeom prst="roundRect">
            <a:avLst>
              <a:gd name="adj" fmla="val 13636"/>
            </a:avLst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 19"/>
          <p:cNvSpPr/>
          <p:nvPr/>
        </p:nvSpPr>
        <p:spPr>
          <a:xfrm>
            <a:off x="4819680" y="3886200"/>
            <a:ext cx="39441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d1d1d"/>
                </a:solidFill>
                <a:effectLst/>
                <a:uFillTx/>
                <a:latin typeface="Arial"/>
                <a:ea typeface="Arial"/>
              </a:rPr>
              <a:t> Prático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LibreOffice/25.8.3.2$Linux_X86_64 LibreOffice_project/580$Build-2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2025-12-02T20:56:50Z</dcterms:created>
  <dc:creator>Leonardo Alves Silva</dc:creator>
  <dc:description/>
  <dc:language>en-US</dc:language>
  <cp:lastModifiedBy/>
  <dcterms:modified xsi:type="dcterms:W3CDTF">2025-12-02T18:14:35Z</dcterms:modified>
  <cp:revision>2</cp:revision>
  <dc:subject>PptxGenJS Presentation</dc:subject>
  <dc:title>Compilador Lusitano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